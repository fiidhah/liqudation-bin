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professors and evaluators. Today, I am presenting our capstone project: 'SmartBin – Smart Liquidation Bin Store E-Commerce Management System'. The core innovation of our project is the Dynamic Daily Pricing Engine, which automates descending daily price drops across the week from Friday restock to Thursday clearance. The system is built with Node.js, Express, MySQL, and modern web tools.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business model: Liquidation stores clear overstocked pallets using descending daily pricing. New stock arrives Friday at peak price and drops daily until Thursday clearance. Traditional stores do this manually with chaotic stickers. SmartBin digitizes and automates this entire daily pricing cycle.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objectives focus heavily on automating daily pricing: 1. Dynamic weekly price drops at midnight. 2. Product-specific daily price overrides for managers. 3. Bin location and condition transparency. 4. Multi-role security. 5. Online checkout with Razorpay and lucky draw customer retention.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contrast: Traditional bin stores suffer from manual price tag replacements, cashier billing errors, and zero inventory visibility. SmartBin automates the daily price drop at midnight, displays upcoming daily prices transparently to buyers, and handles checkout securely via Razorpay.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feature slide of our project: The Dynamic Daily Pricing Engine. In our system, standard bin products follow a strict weekly descending price schedule: Friday Restock is ₹999, Saturday is ₹799, Sunday is ₹599, Monday is ₹399, Tuesday is ₹299, Wednesday is ₹199, and Thursday Clearance is ₹99. Additionally, for premium electronics, Store Managers can set custom daily prices in the daily_prices table. The system executes the apply-today API to update prices in the products table automatically based on the current day of the week.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end-to-end system workflow across five phases: Phase 1: Managers ingest pallets and configure daily price drops. Phase 2: Automated calculation of today's deal price at midnight. Phase 3: Customers browse today's deals and add items to cart. Phase 4: Payment processed via Razorpay at today's active price. Phase 5: Manager fulfillment and automatic entry into the weekly lucky draw.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SmartBin is partitioned into three distinct modules: The Customer Portal focuses on displaying today's deal price, bin filters, cart, and order tracking. The Store Manager Portal manages daily price schedules, triggers price syncs, and handles shipments. The Super Admin Dashboard oversees weekly price curves, manager accounts, and lucky draws.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database is built in MySQL in Third Normal Form across 13 tables: The daily_prices table is the core entity that links product_id with each day_name and liquidated price. The products table maintains the current active price and bin location. Transactional tables maintain orders and payments, while gamification tables manage coupons and lucky draws.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spans four core layers: Frontend: HTML5, CSS3, Bootstrap 5, and modern Vanilla JavaScript for fast rendering. Backend: Node.js and Express.js providing modular REST APIs and daily price controllers. Database: MySQL 8 with connection pooling, protected by bcrypt and JWT authentication. Tools &amp; APIs: Razorpay for payments, Postman for testing, and Git for version control.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SmartBin demonstrates how modern software engineering can solve real-world reverse logistics challenges by automating the exciting descending daily pricing model. We have developed a complete full-stack platform with daily pricing, bin mapping, secure payments, and lucky draws. Thank you for your time. We are now ready for your questions and project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914400"/>
            <a:ext cx="103628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62895" cy="4114800"/>
          </a:xfrm>
          <a:prstGeom prst="rect">
            <a:avLst/>
          </a:prstGeom>
          <a:noFill/>
        </p:spPr>
        <p:txBody>
          <a:bodyPr wrap="square" tIns="0" bIns="0" lIns="0" rIns="0">
            <a:spAutoFit/>
          </a:bodyPr>
          <a:lstStyle/>
          <a:p>
            <a:pPr>
              <a:defRPr sz="1300" b="1">
                <a:solidFill>
                  <a:srgbClr val="2563EB"/>
                </a:solidFill>
                <a:latin typeface="Calibri"/>
              </a:defRPr>
            </a:pPr>
            <a:r>
              <a:t>ACADEMIC CAPSTONE PROJECT PRESENTATION</a:t>
            </a:r>
          </a:p>
          <a:p>
            <a:pPr>
              <a:defRPr sz="4400" b="1">
                <a:solidFill>
                  <a:srgbClr val="0F172A"/>
                </a:solidFill>
                <a:latin typeface="Calibri"/>
              </a:defRPr>
            </a:pPr>
            <a:r>
              <a:t>SMARTBIN</a:t>
            </a:r>
          </a:p>
          <a:p>
            <a:pPr>
              <a:defRPr sz="2200" b="1">
                <a:solidFill>
                  <a:srgbClr val="1E3A8A"/>
                </a:solidFill>
                <a:latin typeface="Calibri"/>
              </a:defRPr>
            </a:pPr>
            <a:r>
              <a:t>Smart Liquidation Bin Store E-Commerce Management System</a:t>
            </a:r>
          </a:p>
          <a:p>
            <a:pPr>
              <a:defRPr sz="1400">
                <a:solidFill>
                  <a:srgbClr val="334155"/>
                </a:solidFill>
                <a:latin typeface="Calibri"/>
              </a:defRPr>
            </a:pPr>
            <a:r>
              <a:t>Featuring Automated Dynamic Daily Price Drop Architecture, In-Store Bin Mapping, and Reverse Logistics Management.</a:t>
            </a:r>
          </a:p>
          <a:p>
            <a:br/>
            <a:pPr>
              <a:defRPr sz="1300" b="1">
                <a:solidFill>
                  <a:srgbClr val="0F172A"/>
                </a:solidFill>
                <a:latin typeface="Calibri"/>
              </a:defRPr>
            </a:pPr>
            <a:r>
              <a:t>• Project Core Innovation: Automated Descending Daily Pricing Engine (Friday to Thursday Price Drops)</a:t>
            </a:r>
          </a:p>
          <a:p>
            <a:pPr>
              <a:defRPr sz="1300" b="1">
                <a:solidFill>
                  <a:srgbClr val="0F172A"/>
                </a:solidFill>
                <a:latin typeface="Calibri"/>
              </a:defRPr>
            </a:pPr>
            <a:r>
              <a:t>• Technology Stack: Node.js, Express.js, MySQL 8.0, HTML5, CSS3, JavaScript (ES6+), Bootstrap 5, Razorpay</a:t>
            </a:r>
          </a:p>
          <a:p>
            <a:pPr>
              <a:defRPr sz="1300" b="1">
                <a:solidFill>
                  <a:srgbClr val="0F172A"/>
                </a:solidFill>
                <a:latin typeface="Calibri"/>
              </a:defRPr>
            </a:pPr>
            <a:r>
              <a:t>• Target Roles: Customers (Online Shoppers), Store Managers (Daily Pricing &amp; Stock), Super Administrators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731520"/>
          </a:xfrm>
          <a:prstGeom prst="rect">
            <a:avLst/>
          </a:prstGeom>
          <a:noFill/>
        </p:spPr>
        <p:txBody>
          <a:bodyPr wrap="square" tIns="0" bIns="0" lIns="0" rIns="0">
            <a:spAutoFit/>
          </a:bodyPr>
          <a:lstStyle/>
          <a:p>
            <a:pPr>
              <a:defRPr sz="2600" b="1">
                <a:solidFill>
                  <a:srgbClr val="0F172A"/>
                </a:solidFill>
                <a:latin typeface="Calibri"/>
              </a:defRPr>
            </a:pPr>
            <a:r>
              <a:t>Project Overview &amp; Background</a:t>
            </a:r>
          </a:p>
        </p:txBody>
      </p:sp>
      <p:sp>
        <p:nvSpPr>
          <p:cNvPr id="3" name="Rectangle 2"/>
          <p:cNvSpPr/>
          <p:nvPr/>
        </p:nvSpPr>
        <p:spPr>
          <a:xfrm>
            <a:off x="914400" y="1234440"/>
            <a:ext cx="103628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0"/>
            <a:ext cx="10362895" cy="274320"/>
          </a:xfrm>
          <a:prstGeom prst="rect">
            <a:avLst/>
          </a:prstGeom>
          <a:noFill/>
        </p:spPr>
        <p:txBody>
          <a:bodyPr wrap="square" tIns="0" bIns="0" lIns="0" rIns="0">
            <a:spAutoFit/>
          </a:bodyPr>
          <a:lstStyle/>
          <a:p>
            <a:pPr>
              <a:defRPr sz="1000">
                <a:solidFill>
                  <a:srgbClr val="64748B"/>
                </a:solidFill>
                <a:latin typeface="Calibri"/>
              </a:defRPr>
            </a:pPr>
            <a:r>
              <a:t>SmartBin – Liquidation Bin Store E-Commerce Management System  |  Slide 2 of 10</a:t>
            </a:r>
          </a:p>
        </p:txBody>
      </p:sp>
      <p:sp>
        <p:nvSpPr>
          <p:cNvPr id="5" name="TextBox 4"/>
          <p:cNvSpPr txBox="1"/>
          <p:nvPr/>
        </p:nvSpPr>
        <p:spPr>
          <a:xfrm>
            <a:off x="914400" y="1463040"/>
            <a:ext cx="10362895" cy="4754880"/>
          </a:xfrm>
          <a:prstGeom prst="rect">
            <a:avLst/>
          </a:prstGeom>
          <a:noFill/>
        </p:spPr>
        <p:txBody>
          <a:bodyPr wrap="square">
            <a:spAutoFit/>
          </a:bodyPr>
          <a:lstStyle/>
          <a:p>
            <a:pPr>
              <a:spcAft>
                <a:spcPts val="1200"/>
              </a:spcAft>
              <a:defRPr sz="1450" b="1">
                <a:solidFill>
                  <a:srgbClr val="1E3A8A"/>
                </a:solidFill>
                <a:latin typeface="Calibri"/>
              </a:defRPr>
            </a:pPr>
            <a:r>
              <a:t>•  The Liquidation Bin Retail Model: </a:t>
            </a:r>
            <a:r>
              <a:rPr sz="1350" b="0">
                <a:solidFill>
                  <a:srgbClr val="334155"/>
                </a:solidFill>
                <a:latin typeface="Calibri"/>
              </a:rPr>
              <a:t>Liquidation stores purchase truckloads of customer returns, overstocks, and clearance merchandise from major retailers (Amazon, Walmart, Target) and resell them at deep discounts.</a:t>
            </a:r>
          </a:p>
          <a:p>
            <a:pPr>
              <a:spcAft>
                <a:spcPts val="1200"/>
              </a:spcAft>
              <a:defRPr sz="1450" b="1">
                <a:solidFill>
                  <a:srgbClr val="1E3A8A"/>
                </a:solidFill>
                <a:latin typeface="Calibri"/>
              </a:defRPr>
            </a:pPr>
            <a:r>
              <a:t>•  The Core Concept of Descending Daily Pricing: </a:t>
            </a:r>
            <a:r>
              <a:rPr sz="1350" b="0">
                <a:solidFill>
                  <a:srgbClr val="334155"/>
                </a:solidFill>
                <a:latin typeface="Calibri"/>
              </a:rPr>
              <a:t>Unlike regular e-commerce with static prices, bin stores sell items on a weekly descending price cycle where every single product drops in price each day until the bins are completely cleared.</a:t>
            </a:r>
          </a:p>
          <a:p>
            <a:pPr>
              <a:spcAft>
                <a:spcPts val="1200"/>
              </a:spcAft>
              <a:defRPr sz="1450" b="1">
                <a:solidFill>
                  <a:srgbClr val="1E3A8A"/>
                </a:solidFill>
                <a:latin typeface="Calibri"/>
              </a:defRPr>
            </a:pPr>
            <a:r>
              <a:t>•  The Weekly Clearance Cycle: </a:t>
            </a:r>
            <a:r>
              <a:rPr sz="1350" b="0">
                <a:solidFill>
                  <a:srgbClr val="334155"/>
                </a:solidFill>
                <a:latin typeface="Calibri"/>
              </a:rPr>
              <a:t>New inventory arrives every Friday at the highest price. Prices systematically drop every day (Saturday, Sunday, Monday, Tuesday, Wednesday) until Thursday when remaining items are cleared at clearance rates.</a:t>
            </a:r>
          </a:p>
          <a:p>
            <a:pPr>
              <a:spcAft>
                <a:spcPts val="1200"/>
              </a:spcAft>
              <a:defRPr sz="1450" b="1">
                <a:solidFill>
                  <a:srgbClr val="1E3A8A"/>
                </a:solidFill>
                <a:latin typeface="Calibri"/>
              </a:defRPr>
            </a:pPr>
            <a:r>
              <a:t>•  The Reverse Logistics Bottleneck: </a:t>
            </a:r>
            <a:r>
              <a:rPr sz="1350" b="0">
                <a:solidFill>
                  <a:srgbClr val="334155"/>
                </a:solidFill>
                <a:latin typeface="Calibri"/>
              </a:rPr>
              <a:t>Traditional stores manage these price changes manually with stickers or announcements, causing billing confusion, crowd stampedes, and inventory miscalculations.</a:t>
            </a:r>
          </a:p>
          <a:p>
            <a:pPr>
              <a:spcAft>
                <a:spcPts val="1200"/>
              </a:spcAft>
              <a:defRPr sz="1450" b="1">
                <a:solidFill>
                  <a:srgbClr val="1E3A8A"/>
                </a:solidFill>
                <a:latin typeface="Calibri"/>
              </a:defRPr>
            </a:pPr>
            <a:r>
              <a:t>•  SmartBin's Digital Solution: </a:t>
            </a:r>
            <a:r>
              <a:rPr sz="1350" b="0">
                <a:solidFill>
                  <a:srgbClr val="334155"/>
                </a:solidFill>
                <a:latin typeface="Calibri"/>
              </a:rPr>
              <a:t>A centralized web platform that automates daily price recalculations in MySQL, displays live daily prices to online customers, maps physical bin locations, and enables 24/7 shopping.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731520"/>
          </a:xfrm>
          <a:prstGeom prst="rect">
            <a:avLst/>
          </a:prstGeom>
          <a:noFill/>
        </p:spPr>
        <p:txBody>
          <a:bodyPr wrap="square" tIns="0" bIns="0" lIns="0" rIns="0">
            <a:spAutoFit/>
          </a:bodyPr>
          <a:lstStyle/>
          <a:p>
            <a:pPr>
              <a:defRPr sz="2600" b="1">
                <a:solidFill>
                  <a:srgbClr val="0F172A"/>
                </a:solidFill>
                <a:latin typeface="Calibri"/>
              </a:defRPr>
            </a:pPr>
            <a:r>
              <a:t>Project Objectives &amp; Scope</a:t>
            </a:r>
          </a:p>
        </p:txBody>
      </p:sp>
      <p:sp>
        <p:nvSpPr>
          <p:cNvPr id="3" name="Rectangle 2"/>
          <p:cNvSpPr/>
          <p:nvPr/>
        </p:nvSpPr>
        <p:spPr>
          <a:xfrm>
            <a:off x="914400" y="1234440"/>
            <a:ext cx="103628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0"/>
            <a:ext cx="10362895" cy="274320"/>
          </a:xfrm>
          <a:prstGeom prst="rect">
            <a:avLst/>
          </a:prstGeom>
          <a:noFill/>
        </p:spPr>
        <p:txBody>
          <a:bodyPr wrap="square" tIns="0" bIns="0" lIns="0" rIns="0">
            <a:spAutoFit/>
          </a:bodyPr>
          <a:lstStyle/>
          <a:p>
            <a:pPr>
              <a:defRPr sz="1000">
                <a:solidFill>
                  <a:srgbClr val="64748B"/>
                </a:solidFill>
                <a:latin typeface="Calibri"/>
              </a:defRPr>
            </a:pPr>
            <a:r>
              <a:t>SmartBin – Liquidation Bin Store E-Commerce Management System  |  Slide 3 of 10</a:t>
            </a:r>
          </a:p>
        </p:txBody>
      </p:sp>
      <p:sp>
        <p:nvSpPr>
          <p:cNvPr id="5" name="TextBox 4"/>
          <p:cNvSpPr txBox="1"/>
          <p:nvPr/>
        </p:nvSpPr>
        <p:spPr>
          <a:xfrm>
            <a:off x="914400" y="1463040"/>
            <a:ext cx="10362895" cy="4754880"/>
          </a:xfrm>
          <a:prstGeom prst="rect">
            <a:avLst/>
          </a:prstGeom>
          <a:noFill/>
        </p:spPr>
        <p:txBody>
          <a:bodyPr wrap="square">
            <a:spAutoFit/>
          </a:bodyPr>
          <a:lstStyle/>
          <a:p>
            <a:pPr>
              <a:spcAft>
                <a:spcPts val="1200"/>
              </a:spcAft>
              <a:defRPr sz="1450" b="1">
                <a:solidFill>
                  <a:srgbClr val="1E3A8A"/>
                </a:solidFill>
                <a:latin typeface="Calibri"/>
              </a:defRPr>
            </a:pPr>
            <a:r>
              <a:t>•  Automate Dynamic Daily Price Drop Schedules: </a:t>
            </a:r>
            <a:r>
              <a:rPr sz="1350" b="0">
                <a:solidFill>
                  <a:srgbClr val="334155"/>
                </a:solidFill>
                <a:latin typeface="Calibri"/>
              </a:rPr>
              <a:t>Develop an automated pricing engine that checks the current calendar day and updates selling prices across products at midnight without human labor or manual price tagging.</a:t>
            </a:r>
          </a:p>
          <a:p>
            <a:pPr>
              <a:spcAft>
                <a:spcPts val="1200"/>
              </a:spcAft>
              <a:defRPr sz="1450" b="1">
                <a:solidFill>
                  <a:srgbClr val="1E3A8A"/>
                </a:solidFill>
                <a:latin typeface="Calibri"/>
              </a:defRPr>
            </a:pPr>
            <a:r>
              <a:t>•  Support Product-Specific Daily Price Overrides: </a:t>
            </a:r>
            <a:r>
              <a:rPr sz="1350" b="0">
                <a:solidFill>
                  <a:srgbClr val="334155"/>
                </a:solidFill>
                <a:latin typeface="Calibri"/>
              </a:rPr>
              <a:t>Enable Store Managers to define tailored daily price schedules per product for high-value merchandise (e.g., electronics) using the daily_prices database table.</a:t>
            </a:r>
          </a:p>
          <a:p>
            <a:pPr>
              <a:spcAft>
                <a:spcPts val="1200"/>
              </a:spcAft>
              <a:defRPr sz="1450" b="1">
                <a:solidFill>
                  <a:srgbClr val="1E3A8A"/>
                </a:solidFill>
                <a:latin typeface="Calibri"/>
              </a:defRPr>
            </a:pPr>
            <a:r>
              <a:t>•  Provide Real-Time Inventory &amp; Bin Transparency: </a:t>
            </a:r>
            <a:r>
              <a:rPr sz="1350" b="0">
                <a:solidFill>
                  <a:srgbClr val="334155"/>
                </a:solidFill>
                <a:latin typeface="Calibri"/>
              </a:rPr>
              <a:t>Display exact physical bin locations (Bin A, Bin B, Bin C) and condition ratings (Brand New, Open Box, Refurbished) so buyers know where items are located and their true condition.</a:t>
            </a:r>
          </a:p>
          <a:p>
            <a:pPr>
              <a:spcAft>
                <a:spcPts val="1200"/>
              </a:spcAft>
              <a:defRPr sz="1450" b="1">
                <a:solidFill>
                  <a:srgbClr val="1E3A8A"/>
                </a:solidFill>
                <a:latin typeface="Calibri"/>
              </a:defRPr>
            </a:pPr>
            <a:r>
              <a:t>•  Secure Multi-Role Governance: </a:t>
            </a:r>
            <a:r>
              <a:rPr sz="1350" b="0">
                <a:solidFill>
                  <a:srgbClr val="334155"/>
                </a:solidFill>
                <a:latin typeface="Calibri"/>
              </a:rPr>
              <a:t>Provide isolated portals for Customers, Store Managers, and Super Administrators protected by JWT authentication and salted bcrypt password hashing.</a:t>
            </a:r>
          </a:p>
          <a:p>
            <a:pPr>
              <a:spcAft>
                <a:spcPts val="1200"/>
              </a:spcAft>
              <a:defRPr sz="1450" b="1">
                <a:solidFill>
                  <a:srgbClr val="1E3A8A"/>
                </a:solidFill>
                <a:latin typeface="Calibri"/>
              </a:defRPr>
            </a:pPr>
            <a:r>
              <a:t>•  Frictionless E-Commerce &amp; Customer Retention: </a:t>
            </a:r>
            <a:r>
              <a:rPr sz="1350" b="0">
                <a:solidFill>
                  <a:srgbClr val="334155"/>
                </a:solidFill>
                <a:latin typeface="Calibri"/>
              </a:rPr>
              <a:t>Provide dynamic cart calculation, promotional coupon discounts, Razorpay online payments, and automated Lucky Draw raffle competitions.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731520"/>
          </a:xfrm>
          <a:prstGeom prst="rect">
            <a:avLst/>
          </a:prstGeom>
          <a:noFill/>
        </p:spPr>
        <p:txBody>
          <a:bodyPr wrap="square" tIns="0" bIns="0" lIns="0" rIns="0">
            <a:spAutoFit/>
          </a:bodyPr>
          <a:lstStyle/>
          <a:p>
            <a:pPr>
              <a:defRPr sz="2600" b="1">
                <a:solidFill>
                  <a:srgbClr val="0F172A"/>
                </a:solidFill>
                <a:latin typeface="Calibri"/>
              </a:defRPr>
            </a:pPr>
            <a:r>
              <a:t>Existing System vs. Proposed System</a:t>
            </a:r>
          </a:p>
        </p:txBody>
      </p:sp>
      <p:sp>
        <p:nvSpPr>
          <p:cNvPr id="3" name="Rectangle 2"/>
          <p:cNvSpPr/>
          <p:nvPr/>
        </p:nvSpPr>
        <p:spPr>
          <a:xfrm>
            <a:off x="914400" y="1234440"/>
            <a:ext cx="103628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0"/>
            <a:ext cx="10362895" cy="274320"/>
          </a:xfrm>
          <a:prstGeom prst="rect">
            <a:avLst/>
          </a:prstGeom>
          <a:noFill/>
        </p:spPr>
        <p:txBody>
          <a:bodyPr wrap="square" tIns="0" bIns="0" lIns="0" rIns="0">
            <a:spAutoFit/>
          </a:bodyPr>
          <a:lstStyle/>
          <a:p>
            <a:pPr>
              <a:defRPr sz="1000">
                <a:solidFill>
                  <a:srgbClr val="64748B"/>
                </a:solidFill>
                <a:latin typeface="Calibri"/>
              </a:defRPr>
            </a:pPr>
            <a:r>
              <a:t>SmartBin – Liquidation Bin Store E-Commerce Management System  |  Slide 4 of 10</a:t>
            </a:r>
          </a:p>
        </p:txBody>
      </p:sp>
      <p:sp>
        <p:nvSpPr>
          <p:cNvPr id="5" name="TextBox 4"/>
          <p:cNvSpPr txBox="1"/>
          <p:nvPr/>
        </p:nvSpPr>
        <p:spPr>
          <a:xfrm>
            <a:off x="914400" y="1463040"/>
            <a:ext cx="10362895" cy="4754880"/>
          </a:xfrm>
          <a:prstGeom prst="rect">
            <a:avLst/>
          </a:prstGeom>
          <a:noFill/>
        </p:spPr>
        <p:txBody>
          <a:bodyPr wrap="square">
            <a:spAutoFit/>
          </a:bodyPr>
          <a:lstStyle/>
          <a:p>
            <a:pPr>
              <a:spcAft>
                <a:spcPts val="400"/>
              </a:spcAft>
              <a:defRPr sz="1600" b="1">
                <a:solidFill>
                  <a:srgbClr val="BE123C"/>
                </a:solidFill>
                <a:latin typeface="Calibri"/>
              </a:defRPr>
            </a:pPr>
            <a:r>
              <a:t>Limitations of Existing Traditional Bin Stores:</a:t>
            </a:r>
          </a:p>
          <a:p>
            <a:pPr>
              <a:spcAft>
                <a:spcPts val="300"/>
              </a:spcAft>
              <a:defRPr sz="1300">
                <a:solidFill>
                  <a:srgbClr val="334155"/>
                </a:solidFill>
                <a:latin typeface="Calibri"/>
              </a:defRPr>
            </a:pPr>
            <a:r>
              <a:t>   –  Manual Price Re-Labeling: Workers manually re-tag hundreds of items every evening or shout out new daily rates, leading to severe labor overhead and pricing errors.</a:t>
            </a:r>
          </a:p>
          <a:p>
            <a:pPr>
              <a:spcAft>
                <a:spcPts val="300"/>
              </a:spcAft>
              <a:defRPr sz="1300">
                <a:solidFill>
                  <a:srgbClr val="334155"/>
                </a:solidFill>
                <a:latin typeface="Calibri"/>
              </a:defRPr>
            </a:pPr>
            <a:r>
              <a:t>   –  Zero In-Store Transparency: Shoppers have no way of knowing what products will be priced at on subsequent days, making planning impossible.</a:t>
            </a:r>
          </a:p>
          <a:p>
            <a:pPr>
              <a:spcAft>
                <a:spcPts val="300"/>
              </a:spcAft>
              <a:defRPr sz="1300">
                <a:solidFill>
                  <a:srgbClr val="334155"/>
                </a:solidFill>
                <a:latin typeface="Calibri"/>
              </a:defRPr>
            </a:pPr>
            <a:r>
              <a:t>   –  Blind In-Person Shopping: Customers must travel physically to stores and rummage through unorganized wooden bins without knowing available stock.</a:t>
            </a:r>
          </a:p>
          <a:p>
            <a:pPr>
              <a:spcAft>
                <a:spcPts val="300"/>
              </a:spcAft>
              <a:defRPr sz="1300">
                <a:solidFill>
                  <a:srgbClr val="334155"/>
                </a:solidFill>
                <a:latin typeface="Calibri"/>
              </a:defRPr>
            </a:pPr>
            <a:r>
              <a:t>   –  Billing Discrepancies: Cashiers manually enter daily prices at registers, frequently miscalculating totals during crowded morning rushes.</a:t>
            </a:r>
          </a:p>
          <a:p>
            <a:br/>
            <a:pPr>
              <a:spcAft>
                <a:spcPts val="400"/>
              </a:spcAft>
              <a:defRPr sz="1600" b="1">
                <a:solidFill>
                  <a:srgbClr val="15803D"/>
                </a:solidFill>
                <a:latin typeface="Calibri"/>
              </a:defRPr>
            </a:pPr>
            <a:r>
              <a:t>Innovations of Proposed SmartBin Platform:</a:t>
            </a:r>
          </a:p>
          <a:p>
            <a:pPr>
              <a:spcAft>
                <a:spcPts val="300"/>
              </a:spcAft>
              <a:defRPr sz="1300">
                <a:solidFill>
                  <a:srgbClr val="334155"/>
                </a:solidFill>
                <a:latin typeface="Calibri"/>
              </a:defRPr>
            </a:pPr>
            <a:r>
              <a:t>   ✔  Automated Midnight Price Engine: The database scheduler recalculates and applies today's liquidated price automatically at 12:00 AM.</a:t>
            </a:r>
          </a:p>
          <a:p>
            <a:pPr>
              <a:spcAft>
                <a:spcPts val="300"/>
              </a:spcAft>
              <a:defRPr sz="1300">
                <a:solidFill>
                  <a:srgbClr val="334155"/>
                </a:solidFill>
                <a:latin typeface="Calibri"/>
              </a:defRPr>
            </a:pPr>
            <a:r>
              <a:t>   ✔  Transparent 7-Day Price Schedule: Customers view the exact price for today and upcoming days of the week on the storefront before purchasing.</a:t>
            </a:r>
          </a:p>
          <a:p>
            <a:pPr>
              <a:spcAft>
                <a:spcPts val="300"/>
              </a:spcAft>
              <a:defRPr sz="1300">
                <a:solidFill>
                  <a:srgbClr val="334155"/>
                </a:solidFill>
                <a:latin typeface="Calibri"/>
              </a:defRPr>
            </a:pPr>
            <a:r>
              <a:t>   ✔  24/7 Digital Catalog &amp; Bin Mapping: Customers browse items by physical bin number (Bin A, B), condition grade, and reserve or buy online.</a:t>
            </a:r>
          </a:p>
          <a:p>
            <a:pPr>
              <a:spcAft>
                <a:spcPts val="300"/>
              </a:spcAft>
              <a:defRPr sz="1300">
                <a:solidFill>
                  <a:srgbClr val="334155"/>
                </a:solidFill>
                <a:latin typeface="Calibri"/>
              </a:defRPr>
            </a:pPr>
            <a:r>
              <a:t>   ✔  Instant Online Checkout: Razorpay payment gateway automatically applies today's liquidated deal price, generating digital invoices.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731520"/>
          </a:xfrm>
          <a:prstGeom prst="rect">
            <a:avLst/>
          </a:prstGeom>
          <a:noFill/>
        </p:spPr>
        <p:txBody>
          <a:bodyPr wrap="square" tIns="0" bIns="0" lIns="0" rIns="0">
            <a:spAutoFit/>
          </a:bodyPr>
          <a:lstStyle/>
          <a:p>
            <a:pPr>
              <a:defRPr sz="2600" b="1">
                <a:solidFill>
                  <a:srgbClr val="0F172A"/>
                </a:solidFill>
                <a:latin typeface="Calibri"/>
              </a:defRPr>
            </a:pPr>
            <a:r>
              <a:t>Main Feature: Dynamic Daily Pricing Architecture</a:t>
            </a:r>
          </a:p>
        </p:txBody>
      </p:sp>
      <p:sp>
        <p:nvSpPr>
          <p:cNvPr id="3" name="Rectangle 2"/>
          <p:cNvSpPr/>
          <p:nvPr/>
        </p:nvSpPr>
        <p:spPr>
          <a:xfrm>
            <a:off x="914400" y="1234440"/>
            <a:ext cx="103628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0"/>
            <a:ext cx="10362895" cy="274320"/>
          </a:xfrm>
          <a:prstGeom prst="rect">
            <a:avLst/>
          </a:prstGeom>
          <a:noFill/>
        </p:spPr>
        <p:txBody>
          <a:bodyPr wrap="square" tIns="0" bIns="0" lIns="0" rIns="0">
            <a:spAutoFit/>
          </a:bodyPr>
          <a:lstStyle/>
          <a:p>
            <a:pPr>
              <a:defRPr sz="1000">
                <a:solidFill>
                  <a:srgbClr val="64748B"/>
                </a:solidFill>
                <a:latin typeface="Calibri"/>
              </a:defRPr>
            </a:pPr>
            <a:r>
              <a:t>SmartBin – Liquidation Bin Store E-Commerce Management System  |  Slide 5 of 10</a:t>
            </a:r>
          </a:p>
        </p:txBody>
      </p:sp>
      <p:sp>
        <p:nvSpPr>
          <p:cNvPr id="5" name="TextBox 4"/>
          <p:cNvSpPr txBox="1"/>
          <p:nvPr/>
        </p:nvSpPr>
        <p:spPr>
          <a:xfrm>
            <a:off x="914400" y="1463040"/>
            <a:ext cx="10362895" cy="4754880"/>
          </a:xfrm>
          <a:prstGeom prst="rect">
            <a:avLst/>
          </a:prstGeom>
          <a:noFill/>
        </p:spPr>
        <p:txBody>
          <a:bodyPr wrap="square">
            <a:spAutoFit/>
          </a:bodyPr>
          <a:lstStyle/>
          <a:p>
            <a:pPr>
              <a:spcAft>
                <a:spcPts val="400"/>
              </a:spcAft>
              <a:defRPr sz="1550" b="1">
                <a:solidFill>
                  <a:srgbClr val="1E3A8A"/>
                </a:solidFill>
                <a:latin typeface="Calibri"/>
              </a:defRPr>
            </a:pPr>
            <a:r>
              <a:t>1. Exact Weekly Liquidation Price Drop Schedule (Standard Bins):</a:t>
            </a:r>
          </a:p>
          <a:p>
            <a:pPr>
              <a:spcAft>
                <a:spcPts val="200"/>
              </a:spcAft>
              <a:defRPr sz="1300" b="1">
                <a:solidFill>
                  <a:srgbClr val="0F172A"/>
                </a:solidFill>
                <a:latin typeface="Calibri"/>
              </a:defRPr>
            </a:pPr>
            <a:r>
              <a:t>   •  Friday (Restock Day):  </a:t>
            </a:r>
            <a:r>
              <a:rPr sz="1350" b="1">
                <a:solidFill>
                  <a:srgbClr val="B91C1C"/>
                </a:solidFill>
                <a:latin typeface="Calibri"/>
              </a:rPr>
              <a:t>₹999  </a:t>
            </a:r>
            <a:r>
              <a:rPr sz="1250" b="0">
                <a:solidFill>
                  <a:srgbClr val="334155"/>
                </a:solidFill>
                <a:latin typeface="Calibri"/>
              </a:rPr>
              <a:t>—  Fresh inventory loaded into bins from retail pallets; highest value day.</a:t>
            </a:r>
          </a:p>
          <a:p>
            <a:pPr>
              <a:spcAft>
                <a:spcPts val="200"/>
              </a:spcAft>
              <a:defRPr sz="1300" b="1">
                <a:solidFill>
                  <a:srgbClr val="0F172A"/>
                </a:solidFill>
                <a:latin typeface="Calibri"/>
              </a:defRPr>
            </a:pPr>
            <a:r>
              <a:t>   •  Saturday (Weekend Rush):  </a:t>
            </a:r>
            <a:r>
              <a:rPr sz="1350" b="1">
                <a:solidFill>
                  <a:srgbClr val="B91C1C"/>
                </a:solidFill>
                <a:latin typeface="Calibri"/>
              </a:rPr>
              <a:t>₹799  </a:t>
            </a:r>
            <a:r>
              <a:rPr sz="1250" b="0">
                <a:solidFill>
                  <a:srgbClr val="334155"/>
                </a:solidFill>
                <a:latin typeface="Calibri"/>
              </a:rPr>
              <a:t>—  High-demand weekend shopping price drop.</a:t>
            </a:r>
          </a:p>
          <a:p>
            <a:pPr>
              <a:spcAft>
                <a:spcPts val="200"/>
              </a:spcAft>
              <a:defRPr sz="1300" b="1">
                <a:solidFill>
                  <a:srgbClr val="0F172A"/>
                </a:solidFill>
                <a:latin typeface="Calibri"/>
              </a:defRPr>
            </a:pPr>
            <a:r>
              <a:t>   •  Sunday (Weekend Drop):  </a:t>
            </a:r>
            <a:r>
              <a:rPr sz="1350" b="1">
                <a:solidFill>
                  <a:srgbClr val="B91C1C"/>
                </a:solidFill>
                <a:latin typeface="Calibri"/>
              </a:rPr>
              <a:t>₹599  </a:t>
            </a:r>
            <a:r>
              <a:rPr sz="1250" b="0">
                <a:solidFill>
                  <a:srgbClr val="334155"/>
                </a:solidFill>
                <a:latin typeface="Calibri"/>
              </a:rPr>
              <a:t>—  Sunday price cut to accelerate weekend volume.</a:t>
            </a:r>
          </a:p>
          <a:p>
            <a:pPr>
              <a:spcAft>
                <a:spcPts val="200"/>
              </a:spcAft>
              <a:defRPr sz="1300" b="1">
                <a:solidFill>
                  <a:srgbClr val="0F172A"/>
                </a:solidFill>
                <a:latin typeface="Calibri"/>
              </a:defRPr>
            </a:pPr>
            <a:r>
              <a:t>   •  Monday (Markdown Monday):  </a:t>
            </a:r>
            <a:r>
              <a:rPr sz="1350" b="1">
                <a:solidFill>
                  <a:srgbClr val="B91C1C"/>
                </a:solidFill>
                <a:latin typeface="Calibri"/>
              </a:rPr>
              <a:t>₹399  </a:t>
            </a:r>
            <a:r>
              <a:rPr sz="1250" b="0">
                <a:solidFill>
                  <a:srgbClr val="334155"/>
                </a:solidFill>
                <a:latin typeface="Calibri"/>
              </a:rPr>
              <a:t>—  Weekday price reduction to drive steady traffic.</a:t>
            </a:r>
          </a:p>
          <a:p>
            <a:pPr>
              <a:spcAft>
                <a:spcPts val="200"/>
              </a:spcAft>
              <a:defRPr sz="1300" b="1">
                <a:solidFill>
                  <a:srgbClr val="0F172A"/>
                </a:solidFill>
                <a:latin typeface="Calibri"/>
              </a:defRPr>
            </a:pPr>
            <a:r>
              <a:t>   •  Tuesday (Value Tuesday):  </a:t>
            </a:r>
            <a:r>
              <a:rPr sz="1350" b="1">
                <a:solidFill>
                  <a:srgbClr val="B91C1C"/>
                </a:solidFill>
                <a:latin typeface="Calibri"/>
              </a:rPr>
              <a:t>₹299  </a:t>
            </a:r>
            <a:r>
              <a:rPr sz="1250" b="0">
                <a:solidFill>
                  <a:srgbClr val="334155"/>
                </a:solidFill>
                <a:latin typeface="Calibri"/>
              </a:rPr>
              <a:t>—  Budget clearance pricing tier.</a:t>
            </a:r>
          </a:p>
          <a:p>
            <a:pPr>
              <a:spcAft>
                <a:spcPts val="200"/>
              </a:spcAft>
              <a:defRPr sz="1300" b="1">
                <a:solidFill>
                  <a:srgbClr val="0F172A"/>
                </a:solidFill>
                <a:latin typeface="Calibri"/>
              </a:defRPr>
            </a:pPr>
            <a:r>
              <a:t>   •  Wednesday (Blowout Day):  </a:t>
            </a:r>
            <a:r>
              <a:rPr sz="1350" b="1">
                <a:solidFill>
                  <a:srgbClr val="B91C1C"/>
                </a:solidFill>
                <a:latin typeface="Calibri"/>
              </a:rPr>
              <a:t>₹199  </a:t>
            </a:r>
            <a:r>
              <a:rPr sz="1250" b="0">
                <a:solidFill>
                  <a:srgbClr val="334155"/>
                </a:solidFill>
                <a:latin typeface="Calibri"/>
              </a:rPr>
              <a:t>—  Deep discount blowout day to clear bins.</a:t>
            </a:r>
          </a:p>
          <a:p>
            <a:pPr>
              <a:spcAft>
                <a:spcPts val="200"/>
              </a:spcAft>
              <a:defRPr sz="1300" b="1">
                <a:solidFill>
                  <a:srgbClr val="0F172A"/>
                </a:solidFill>
                <a:latin typeface="Calibri"/>
              </a:defRPr>
            </a:pPr>
            <a:r>
              <a:t>   •  Thursday (Clearance Day):  </a:t>
            </a:r>
            <a:r>
              <a:rPr sz="1350" b="1">
                <a:solidFill>
                  <a:srgbClr val="B91C1C"/>
                </a:solidFill>
                <a:latin typeface="Calibri"/>
              </a:rPr>
              <a:t>₹99  </a:t>
            </a:r>
            <a:r>
              <a:rPr sz="1250" b="0">
                <a:solidFill>
                  <a:srgbClr val="334155"/>
                </a:solidFill>
                <a:latin typeface="Calibri"/>
              </a:rPr>
              <a:t>—  Final liquidation price before Friday's new inventory restock.</a:t>
            </a:r>
          </a:p>
          <a:p>
            <a:br/>
            <a:pPr>
              <a:spcAft>
                <a:spcPts val="400"/>
              </a:spcAft>
              <a:defRPr sz="1550" b="1">
                <a:solidFill>
                  <a:srgbClr val="1E3A8A"/>
                </a:solidFill>
                <a:latin typeface="Calibri"/>
              </a:defRPr>
            </a:pPr>
            <a:r>
              <a:t>2. Product-Specific Daily Price Overrides (daily_prices Table):</a:t>
            </a:r>
          </a:p>
          <a:p>
            <a:pPr>
              <a:spcAft>
                <a:spcPts val="300"/>
              </a:spcAft>
              <a:defRPr sz="1300" b="1">
                <a:solidFill>
                  <a:srgbClr val="0F172A"/>
                </a:solidFill>
                <a:latin typeface="Calibri"/>
              </a:defRPr>
            </a:pPr>
            <a:r>
              <a:t>   •  High-Value Product Overrides: </a:t>
            </a:r>
            <a:r>
              <a:rPr sz="1250" b="0">
                <a:solidFill>
                  <a:srgbClr val="334155"/>
                </a:solidFill>
                <a:latin typeface="Calibri"/>
              </a:rPr>
              <a:t>For electronics or premium products, Store Managers configure custom daily prices per day in daily_prices (e.g., Fri: ₹4,999 ➔ Sat: ₹3,999 ➔ Sun: ₹2,999 ➔ Mon: ₹1,999 ➔ Tue: ₹1,499 ➔ Wed: ₹999 ➔ Thu: ₹499).</a:t>
            </a:r>
          </a:p>
          <a:p>
            <a:pPr>
              <a:spcAft>
                <a:spcPts val="300"/>
              </a:spcAft>
              <a:defRPr sz="1300" b="1">
                <a:solidFill>
                  <a:srgbClr val="0F172A"/>
                </a:solidFill>
                <a:latin typeface="Calibri"/>
              </a:defRPr>
            </a:pPr>
            <a:r>
              <a:t>   •  Automated Daily Application API (/api/daily-prices/apply-today): </a:t>
            </a:r>
            <a:r>
              <a:rPr sz="1250" b="0">
                <a:solidFill>
                  <a:srgbClr val="334155"/>
                </a:solidFill>
                <a:latin typeface="Calibri"/>
              </a:rPr>
              <a:t>Evaluates current day name (Sunday to Saturday), executes UPDATE products SET price = ? WHERE product_id = ?, and instantly syncs live catalog prices.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731520"/>
          </a:xfrm>
          <a:prstGeom prst="rect">
            <a:avLst/>
          </a:prstGeom>
          <a:noFill/>
        </p:spPr>
        <p:txBody>
          <a:bodyPr wrap="square" tIns="0" bIns="0" lIns="0" rIns="0">
            <a:spAutoFit/>
          </a:bodyPr>
          <a:lstStyle/>
          <a:p>
            <a:pPr>
              <a:defRPr sz="2600" b="1">
                <a:solidFill>
                  <a:srgbClr val="0F172A"/>
                </a:solidFill>
                <a:latin typeface="Calibri"/>
              </a:defRPr>
            </a:pPr>
            <a:r>
              <a:t>System Architecture &amp; Execution Workflow</a:t>
            </a:r>
          </a:p>
        </p:txBody>
      </p:sp>
      <p:sp>
        <p:nvSpPr>
          <p:cNvPr id="3" name="Rectangle 2"/>
          <p:cNvSpPr/>
          <p:nvPr/>
        </p:nvSpPr>
        <p:spPr>
          <a:xfrm>
            <a:off x="914400" y="1234440"/>
            <a:ext cx="103628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0"/>
            <a:ext cx="10362895" cy="274320"/>
          </a:xfrm>
          <a:prstGeom prst="rect">
            <a:avLst/>
          </a:prstGeom>
          <a:noFill/>
        </p:spPr>
        <p:txBody>
          <a:bodyPr wrap="square" tIns="0" bIns="0" lIns="0" rIns="0">
            <a:spAutoFit/>
          </a:bodyPr>
          <a:lstStyle/>
          <a:p>
            <a:pPr>
              <a:defRPr sz="1000">
                <a:solidFill>
                  <a:srgbClr val="64748B"/>
                </a:solidFill>
                <a:latin typeface="Calibri"/>
              </a:defRPr>
            </a:pPr>
            <a:r>
              <a:t>SmartBin – Liquidation Bin Store E-Commerce Management System  |  Slide 6 of 10</a:t>
            </a:r>
          </a:p>
        </p:txBody>
      </p:sp>
      <p:sp>
        <p:nvSpPr>
          <p:cNvPr id="5" name="TextBox 4"/>
          <p:cNvSpPr txBox="1"/>
          <p:nvPr/>
        </p:nvSpPr>
        <p:spPr>
          <a:xfrm>
            <a:off x="914400" y="1463040"/>
            <a:ext cx="10362895" cy="4754880"/>
          </a:xfrm>
          <a:prstGeom prst="rect">
            <a:avLst/>
          </a:prstGeom>
          <a:noFill/>
        </p:spPr>
        <p:txBody>
          <a:bodyPr wrap="square">
            <a:spAutoFit/>
          </a:bodyPr>
          <a:lstStyle/>
          <a:p>
            <a:pPr>
              <a:spcAft>
                <a:spcPts val="1200"/>
              </a:spcAft>
              <a:defRPr sz="1400" b="1">
                <a:solidFill>
                  <a:srgbClr val="1E3A8A"/>
                </a:solidFill>
                <a:latin typeface="Calibri"/>
              </a:defRPr>
            </a:pPr>
            <a:r>
              <a:t>•  Phase 1: Ingestion &amp; Daily Price Setup: </a:t>
            </a:r>
            <a:r>
              <a:rPr sz="1300" b="0">
                <a:solidFill>
                  <a:srgbClr val="334155"/>
                </a:solidFill>
                <a:latin typeface="Calibri"/>
              </a:rPr>
              <a:t>Store Managers catalog incoming liquidation pallets, assign physical Bin Numbers (Bin A, Bin B), condition grades, and configure the product's daily price schedule from Friday to Thursday.</a:t>
            </a:r>
          </a:p>
          <a:p>
            <a:pPr>
              <a:spcAft>
                <a:spcPts val="1200"/>
              </a:spcAft>
              <a:defRPr sz="1400" b="1">
                <a:solidFill>
                  <a:srgbClr val="1E3A8A"/>
                </a:solidFill>
                <a:latin typeface="Calibri"/>
              </a:defRPr>
            </a:pPr>
            <a:r>
              <a:t>•  Phase 2: Automated Midnight Price Recalculation: </a:t>
            </a:r>
            <a:r>
              <a:rPr sz="1300" b="0">
                <a:solidFill>
                  <a:srgbClr val="334155"/>
                </a:solidFill>
                <a:latin typeface="Calibri"/>
              </a:rPr>
              <a:t>At 12:00 AM, the Express server checks the calendar day against the daily price schedule. Product prices in the database are updated automatically to reflect today's liquidated rate.</a:t>
            </a:r>
          </a:p>
          <a:p>
            <a:pPr>
              <a:spcAft>
                <a:spcPts val="1200"/>
              </a:spcAft>
              <a:defRPr sz="1400" b="1">
                <a:solidFill>
                  <a:srgbClr val="1E3A8A"/>
                </a:solidFill>
                <a:latin typeface="Calibri"/>
              </a:defRPr>
            </a:pPr>
            <a:r>
              <a:t>•  Phase 3: Customer Discovery &amp; Cart Management: </a:t>
            </a:r>
            <a:r>
              <a:rPr sz="1300" b="0">
                <a:solidFill>
                  <a:srgbClr val="334155"/>
                </a:solidFill>
                <a:latin typeface="Calibri"/>
              </a:rPr>
              <a:t>Shoppers browse the storefront showing today's deal price, filter by bin or condition, view upcoming daily price drops, add items to cart, and apply discount promo codes.</a:t>
            </a:r>
          </a:p>
          <a:p>
            <a:pPr>
              <a:spcAft>
                <a:spcPts val="1200"/>
              </a:spcAft>
              <a:defRPr sz="1400" b="1">
                <a:solidFill>
                  <a:srgbClr val="1E3A8A"/>
                </a:solidFill>
                <a:latin typeface="Calibri"/>
              </a:defRPr>
            </a:pPr>
            <a:r>
              <a:t>•  Phase 4: Payment Gateway &amp; Order Synchronization: </a:t>
            </a:r>
            <a:r>
              <a:rPr sz="1300" b="0">
                <a:solidFill>
                  <a:srgbClr val="334155"/>
                </a:solidFill>
                <a:latin typeface="Calibri"/>
              </a:rPr>
              <a:t>Transactions are completed via Razorpay API. In an atomic transaction, the system creates order/payment records, charges today's dynamic price, and decrements stock.</a:t>
            </a:r>
          </a:p>
          <a:p>
            <a:pPr>
              <a:spcAft>
                <a:spcPts val="1200"/>
              </a:spcAft>
              <a:defRPr sz="1400" b="1">
                <a:solidFill>
                  <a:srgbClr val="1E3A8A"/>
                </a:solidFill>
                <a:latin typeface="Calibri"/>
              </a:defRPr>
            </a:pPr>
            <a:r>
              <a:t>•  Phase 5: Fulfillment &amp; Lucky Draw Participation: </a:t>
            </a:r>
            <a:r>
              <a:rPr sz="1300" b="0">
                <a:solidFill>
                  <a:srgbClr val="334155"/>
                </a:solidFill>
                <a:latin typeface="Calibri"/>
              </a:rPr>
              <a:t>Store Managers review orders on the dispatch dashboard and update statuses (Pending ➔ Confirmed ➔ Shipped ➔ Delivered). Customer orders automatically enter weekly Lucky Draws.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731520"/>
          </a:xfrm>
          <a:prstGeom prst="rect">
            <a:avLst/>
          </a:prstGeom>
          <a:noFill/>
        </p:spPr>
        <p:txBody>
          <a:bodyPr wrap="square" tIns="0" bIns="0" lIns="0" rIns="0">
            <a:spAutoFit/>
          </a:bodyPr>
          <a:lstStyle/>
          <a:p>
            <a:pPr>
              <a:defRPr sz="2600" b="1">
                <a:solidFill>
                  <a:srgbClr val="0F172A"/>
                </a:solidFill>
                <a:latin typeface="Calibri"/>
              </a:defRPr>
            </a:pPr>
            <a:r>
              <a:t>Module Description &amp; Role Responsibilities</a:t>
            </a:r>
          </a:p>
        </p:txBody>
      </p:sp>
      <p:sp>
        <p:nvSpPr>
          <p:cNvPr id="3" name="Rectangle 2"/>
          <p:cNvSpPr/>
          <p:nvPr/>
        </p:nvSpPr>
        <p:spPr>
          <a:xfrm>
            <a:off x="914400" y="1234440"/>
            <a:ext cx="103628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0"/>
            <a:ext cx="10362895" cy="274320"/>
          </a:xfrm>
          <a:prstGeom prst="rect">
            <a:avLst/>
          </a:prstGeom>
          <a:noFill/>
        </p:spPr>
        <p:txBody>
          <a:bodyPr wrap="square" tIns="0" bIns="0" lIns="0" rIns="0">
            <a:spAutoFit/>
          </a:bodyPr>
          <a:lstStyle/>
          <a:p>
            <a:pPr>
              <a:defRPr sz="1000">
                <a:solidFill>
                  <a:srgbClr val="64748B"/>
                </a:solidFill>
                <a:latin typeface="Calibri"/>
              </a:defRPr>
            </a:pPr>
            <a:r>
              <a:t>SmartBin – Liquidation Bin Store E-Commerce Management System  |  Slide 7 of 10</a:t>
            </a:r>
          </a:p>
        </p:txBody>
      </p:sp>
      <p:sp>
        <p:nvSpPr>
          <p:cNvPr id="5" name="TextBox 4"/>
          <p:cNvSpPr txBox="1"/>
          <p:nvPr/>
        </p:nvSpPr>
        <p:spPr>
          <a:xfrm>
            <a:off x="914400" y="1463040"/>
            <a:ext cx="10362895" cy="4754880"/>
          </a:xfrm>
          <a:prstGeom prst="rect">
            <a:avLst/>
          </a:prstGeom>
          <a:noFill/>
        </p:spPr>
        <p:txBody>
          <a:bodyPr wrap="square">
            <a:spAutoFit/>
          </a:bodyPr>
          <a:lstStyle/>
          <a:p>
            <a:pPr>
              <a:spcAft>
                <a:spcPts val="200"/>
              </a:spcAft>
              <a:defRPr sz="1450" b="1">
                <a:solidFill>
                  <a:srgbClr val="1E3A8A"/>
                </a:solidFill>
                <a:latin typeface="Calibri"/>
              </a:defRPr>
            </a:pPr>
            <a:r>
              <a:t>•  Customer Portal (Storefront):</a:t>
            </a:r>
          </a:p>
          <a:p>
            <a:pPr>
              <a:spcAft>
                <a:spcPts val="200"/>
              </a:spcAft>
              <a:defRPr sz="1250">
                <a:solidFill>
                  <a:srgbClr val="334155"/>
                </a:solidFill>
                <a:latin typeface="Calibri"/>
              </a:defRPr>
            </a:pPr>
            <a:r>
              <a:t>     –  Today's Deal Display: Prominently view today's active liquidation price banner and 7-day schedule.</a:t>
            </a:r>
          </a:p>
          <a:p>
            <a:pPr>
              <a:spcAft>
                <a:spcPts val="200"/>
              </a:spcAft>
              <a:defRPr sz="1250">
                <a:solidFill>
                  <a:srgbClr val="334155"/>
                </a:solidFill>
                <a:latin typeface="Calibri"/>
              </a:defRPr>
            </a:pPr>
            <a:r>
              <a:t>     –  Catalog Browsing &amp; Filters: Filter items by Bin Number (Bin A, B, C), Category, Brand, and Condition Grade.</a:t>
            </a:r>
          </a:p>
          <a:p>
            <a:pPr>
              <a:spcAft>
                <a:spcPts val="200"/>
              </a:spcAft>
              <a:defRPr sz="1250">
                <a:solidFill>
                  <a:srgbClr val="334155"/>
                </a:solidFill>
                <a:latin typeface="Calibri"/>
              </a:defRPr>
            </a:pPr>
            <a:r>
              <a:t>     –  Cart, Wishlist &amp; Vouchers: Subtotal calculation using today's price, stock checks, and coupon discounts.</a:t>
            </a:r>
          </a:p>
          <a:p>
            <a:pPr>
              <a:spcAft>
                <a:spcPts val="800"/>
              </a:spcAft>
              <a:defRPr sz="1250">
                <a:solidFill>
                  <a:srgbClr val="334155"/>
                </a:solidFill>
                <a:latin typeface="Calibri"/>
              </a:defRPr>
            </a:pPr>
            <a:r>
              <a:t>     –  Order Tracking &amp; Raffles: Self-service order status tracking and Lucky Draw winner boards.</a:t>
            </a:r>
          </a:p>
          <a:p>
            <a:pPr>
              <a:spcAft>
                <a:spcPts val="200"/>
              </a:spcAft>
              <a:defRPr sz="1450" b="1">
                <a:solidFill>
                  <a:srgbClr val="1E3A8A"/>
                </a:solidFill>
                <a:latin typeface="Calibri"/>
              </a:defRPr>
            </a:pPr>
            <a:r>
              <a:t>•  Store Manager Portal:</a:t>
            </a:r>
          </a:p>
          <a:p>
            <a:pPr>
              <a:spcAft>
                <a:spcPts val="200"/>
              </a:spcAft>
              <a:defRPr sz="1250">
                <a:solidFill>
                  <a:srgbClr val="334155"/>
                </a:solidFill>
                <a:latin typeface="Calibri"/>
              </a:defRPr>
            </a:pPr>
            <a:r>
              <a:t>     –  Daily Price Management: Configure custom Monday–Sunday daily prices for individual products.</a:t>
            </a:r>
          </a:p>
          <a:p>
            <a:pPr>
              <a:spcAft>
                <a:spcPts val="200"/>
              </a:spcAft>
              <a:defRPr sz="1250">
                <a:solidFill>
                  <a:srgbClr val="334155"/>
                </a:solidFill>
                <a:latin typeface="Calibri"/>
              </a:defRPr>
            </a:pPr>
            <a:r>
              <a:t>     –  Apply Today's Prices: One-click button to trigger /api/daily-prices/apply-today to synchronize product prices.</a:t>
            </a:r>
          </a:p>
          <a:p>
            <a:pPr>
              <a:spcAft>
                <a:spcPts val="200"/>
              </a:spcAft>
              <a:defRPr sz="1250">
                <a:solidFill>
                  <a:srgbClr val="334155"/>
                </a:solidFill>
                <a:latin typeface="Calibri"/>
              </a:defRPr>
            </a:pPr>
            <a:r>
              <a:t>     –  Product Management &amp; Bins: Add, edit, restock products, and assign physical store bin locations.</a:t>
            </a:r>
          </a:p>
          <a:p>
            <a:pPr>
              <a:spcAft>
                <a:spcPts val="800"/>
              </a:spcAft>
              <a:defRPr sz="1250">
                <a:solidFill>
                  <a:srgbClr val="334155"/>
                </a:solidFill>
                <a:latin typeface="Calibri"/>
              </a:defRPr>
            </a:pPr>
            <a:r>
              <a:t>     –  Order Fulfillment: Review customer delivery details and update order dispatch stages.</a:t>
            </a:r>
          </a:p>
          <a:p>
            <a:pPr>
              <a:spcAft>
                <a:spcPts val="200"/>
              </a:spcAft>
              <a:defRPr sz="1450" b="1">
                <a:solidFill>
                  <a:srgbClr val="1E3A8A"/>
                </a:solidFill>
                <a:latin typeface="Calibri"/>
              </a:defRPr>
            </a:pPr>
            <a:r>
              <a:t>•  Super Administrator Dashboard:</a:t>
            </a:r>
          </a:p>
          <a:p>
            <a:pPr>
              <a:spcAft>
                <a:spcPts val="200"/>
              </a:spcAft>
              <a:defRPr sz="1250">
                <a:solidFill>
                  <a:srgbClr val="334155"/>
                </a:solidFill>
                <a:latin typeface="Calibri"/>
              </a:defRPr>
            </a:pPr>
            <a:r>
              <a:t>     –  Platform Analytics: Monitor total revenue, daily orders, active managers, and registered customers.</a:t>
            </a:r>
          </a:p>
          <a:p>
            <a:pPr>
              <a:spcAft>
                <a:spcPts val="200"/>
              </a:spcAft>
              <a:defRPr sz="1250">
                <a:solidFill>
                  <a:srgbClr val="334155"/>
                </a:solidFill>
                <a:latin typeface="Calibri"/>
              </a:defRPr>
            </a:pPr>
            <a:r>
              <a:t>     –  Global Price Schedule Master: Configure default weekly price drop curves (Friday to Thursday).</a:t>
            </a:r>
          </a:p>
          <a:p>
            <a:pPr>
              <a:spcAft>
                <a:spcPts val="200"/>
              </a:spcAft>
              <a:defRPr sz="1250">
                <a:solidFill>
                  <a:srgbClr val="334155"/>
                </a:solidFill>
                <a:latin typeface="Calibri"/>
              </a:defRPr>
            </a:pPr>
            <a:r>
              <a:t>     –  Manager Oversight: Onboard, update credentials, and manage privileges of store managers.</a:t>
            </a:r>
          </a:p>
          <a:p>
            <a:pPr>
              <a:spcAft>
                <a:spcPts val="800"/>
              </a:spcAft>
              <a:defRPr sz="1250">
                <a:solidFill>
                  <a:srgbClr val="334155"/>
                </a:solidFill>
                <a:latin typeface="Calibri"/>
              </a:defRPr>
            </a:pPr>
            <a:r>
              <a:t>     –  Marketing &amp; Raffles: Launch coupon campaigns and trigger automated lucky draw winner selection.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731520"/>
          </a:xfrm>
          <a:prstGeom prst="rect">
            <a:avLst/>
          </a:prstGeom>
          <a:noFill/>
        </p:spPr>
        <p:txBody>
          <a:bodyPr wrap="square" tIns="0" bIns="0" lIns="0" rIns="0">
            <a:spAutoFit/>
          </a:bodyPr>
          <a:lstStyle/>
          <a:p>
            <a:pPr>
              <a:defRPr sz="2600" b="1">
                <a:solidFill>
                  <a:srgbClr val="0F172A"/>
                </a:solidFill>
                <a:latin typeface="Calibri"/>
              </a:defRPr>
            </a:pPr>
            <a:r>
              <a:t>Database Design &amp; Daily Pricing Schema</a:t>
            </a:r>
          </a:p>
        </p:txBody>
      </p:sp>
      <p:sp>
        <p:nvSpPr>
          <p:cNvPr id="3" name="Rectangle 2"/>
          <p:cNvSpPr/>
          <p:nvPr/>
        </p:nvSpPr>
        <p:spPr>
          <a:xfrm>
            <a:off x="914400" y="1234440"/>
            <a:ext cx="103628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0"/>
            <a:ext cx="10362895" cy="274320"/>
          </a:xfrm>
          <a:prstGeom prst="rect">
            <a:avLst/>
          </a:prstGeom>
          <a:noFill/>
        </p:spPr>
        <p:txBody>
          <a:bodyPr wrap="square" tIns="0" bIns="0" lIns="0" rIns="0">
            <a:spAutoFit/>
          </a:bodyPr>
          <a:lstStyle/>
          <a:p>
            <a:pPr>
              <a:defRPr sz="1000">
                <a:solidFill>
                  <a:srgbClr val="64748B"/>
                </a:solidFill>
                <a:latin typeface="Calibri"/>
              </a:defRPr>
            </a:pPr>
            <a:r>
              <a:t>SmartBin – Liquidation Bin Store E-Commerce Management System  |  Slide 8 of 10</a:t>
            </a:r>
          </a:p>
        </p:txBody>
      </p:sp>
      <p:sp>
        <p:nvSpPr>
          <p:cNvPr id="5" name="TextBox 4"/>
          <p:cNvSpPr txBox="1"/>
          <p:nvPr/>
        </p:nvSpPr>
        <p:spPr>
          <a:xfrm>
            <a:off x="914400" y="1463040"/>
            <a:ext cx="10362895" cy="4754880"/>
          </a:xfrm>
          <a:prstGeom prst="rect">
            <a:avLst/>
          </a:prstGeom>
          <a:noFill/>
        </p:spPr>
        <p:txBody>
          <a:bodyPr wrap="square">
            <a:spAutoFit/>
          </a:bodyPr>
          <a:lstStyle/>
          <a:p>
            <a:pPr>
              <a:spcAft>
                <a:spcPts val="600"/>
              </a:spcAft>
              <a:defRPr sz="1500" b="1">
                <a:solidFill>
                  <a:srgbClr val="1E3A8A"/>
                </a:solidFill>
                <a:latin typeface="Calibri"/>
              </a:defRPr>
            </a:pPr>
            <a:r>
              <a:t>13 Normalized Relational Tables in MySQL (liquidation_bin):</a:t>
            </a:r>
          </a:p>
          <a:p>
            <a:pPr>
              <a:spcAft>
                <a:spcPts val="800"/>
              </a:spcAft>
              <a:defRPr sz="1350" b="1">
                <a:solidFill>
                  <a:srgbClr val="0F172A"/>
                </a:solidFill>
                <a:latin typeface="Calibri"/>
              </a:defRPr>
            </a:pPr>
            <a:r>
              <a:t>•  daily_prices Entity (Core Feature Table): </a:t>
            </a:r>
            <a:r>
              <a:rPr sz="1300" b="0">
                <a:solidFill>
                  <a:srgbClr val="334155"/>
                </a:solidFill>
                <a:latin typeface="Calibri"/>
              </a:rPr>
              <a:t>Stores price_id (PK), product_id (FK), day_name (ENUM: 'Monday'...'Sunday'), price (DECIMAL 10,2), and updated_at timestamp. Enables per-product daily price overrides.</a:t>
            </a:r>
          </a:p>
          <a:p>
            <a:pPr>
              <a:spcAft>
                <a:spcPts val="800"/>
              </a:spcAft>
              <a:defRPr sz="1350" b="1">
                <a:solidFill>
                  <a:srgbClr val="0F172A"/>
                </a:solidFill>
                <a:latin typeface="Calibri"/>
              </a:defRPr>
            </a:pPr>
            <a:r>
              <a:t>•  products Entity: </a:t>
            </a:r>
            <a:r>
              <a:rPr sz="1300" b="0">
                <a:solidFill>
                  <a:srgbClr val="334155"/>
                </a:solidFill>
                <a:latin typeface="Calibri"/>
              </a:rPr>
              <a:t>Stores product_id (PK), manager_id (FK), product_name, category, brand, price (current liquidated price), quantity, image, and bin_number.</a:t>
            </a:r>
          </a:p>
          <a:p>
            <a:pPr>
              <a:spcAft>
                <a:spcPts val="800"/>
              </a:spcAft>
              <a:defRPr sz="1350" b="1">
                <a:solidFill>
                  <a:srgbClr val="0F172A"/>
                </a:solidFill>
                <a:latin typeface="Calibri"/>
              </a:defRPr>
            </a:pPr>
            <a:r>
              <a:t>•  Authentication &amp; Roles Entities: </a:t>
            </a:r>
            <a:r>
              <a:rPr sz="1300" b="0">
                <a:solidFill>
                  <a:srgbClr val="334155"/>
                </a:solidFill>
                <a:latin typeface="Calibri"/>
              </a:rPr>
              <a:t>admins, managers, and users tables store user credentials with 60-character bcrypt salted password hashing and unique email indexes.</a:t>
            </a:r>
          </a:p>
          <a:p>
            <a:pPr>
              <a:spcAft>
                <a:spcPts val="800"/>
              </a:spcAft>
              <a:defRPr sz="1350" b="1">
                <a:solidFill>
                  <a:srgbClr val="0F172A"/>
                </a:solidFill>
                <a:latin typeface="Calibri"/>
              </a:defRPr>
            </a:pPr>
            <a:r>
              <a:t>•  Commerce &amp; Transactional Entities: </a:t>
            </a:r>
            <a:r>
              <a:rPr sz="1300" b="0">
                <a:solidFill>
                  <a:srgbClr val="334155"/>
                </a:solidFill>
                <a:latin typeface="Calibri"/>
              </a:rPr>
              <a:t>cart, cart_items, wishlist, orders, order_items, and payments tables maintain complete transactional integrity with cascading foreign keys.</a:t>
            </a:r>
          </a:p>
          <a:p>
            <a:pPr>
              <a:spcAft>
                <a:spcPts val="800"/>
              </a:spcAft>
              <a:defRPr sz="1350" b="1">
                <a:solidFill>
                  <a:srgbClr val="0F172A"/>
                </a:solidFill>
                <a:latin typeface="Calibri"/>
              </a:defRPr>
            </a:pPr>
            <a:r>
              <a:t>•  Marketing &amp; Gamification Entities: </a:t>
            </a:r>
            <a:r>
              <a:rPr sz="1300" b="0">
                <a:solidFill>
                  <a:srgbClr val="334155"/>
                </a:solidFill>
                <a:latin typeface="Calibri"/>
              </a:rPr>
              <a:t>offers, promotional_offers, lucky_draws, and winners tables manage coupon codes, raffle contests, and winner history.</a:t>
            </a:r>
          </a:p>
          <a:p>
            <a:pPr>
              <a:spcAft>
                <a:spcPts val="800"/>
              </a:spcAft>
              <a:defRPr sz="1350" b="1">
                <a:solidFill>
                  <a:srgbClr val="0F172A"/>
                </a:solidFill>
                <a:latin typeface="Calibri"/>
              </a:defRPr>
            </a:pPr>
            <a:r>
              <a:t>•  Database Normalization &amp; Integrity: </a:t>
            </a:r>
            <a:r>
              <a:rPr sz="1300" b="0">
                <a:solidFill>
                  <a:srgbClr val="334155"/>
                </a:solidFill>
                <a:latin typeface="Calibri"/>
              </a:rPr>
              <a:t>Structured in Third Normal Form (3NF) with foreign key constraints (ON DELETE CASCADE / SET NULL) to ensure zero data redundancy and ACID reliability.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731520"/>
          </a:xfrm>
          <a:prstGeom prst="rect">
            <a:avLst/>
          </a:prstGeom>
          <a:noFill/>
        </p:spPr>
        <p:txBody>
          <a:bodyPr wrap="square" tIns="0" bIns="0" lIns="0" rIns="0">
            <a:spAutoFit/>
          </a:bodyPr>
          <a:lstStyle/>
          <a:p>
            <a:pPr>
              <a:defRPr sz="2600" b="1">
                <a:solidFill>
                  <a:srgbClr val="0F172A"/>
                </a:solidFill>
                <a:latin typeface="Calibri"/>
              </a:defRPr>
            </a:pPr>
            <a:r>
              <a:t>Technology Stack &amp; Development Tools</a:t>
            </a:r>
          </a:p>
        </p:txBody>
      </p:sp>
      <p:sp>
        <p:nvSpPr>
          <p:cNvPr id="3" name="Rectangle 2"/>
          <p:cNvSpPr/>
          <p:nvPr/>
        </p:nvSpPr>
        <p:spPr>
          <a:xfrm>
            <a:off x="914400" y="1234440"/>
            <a:ext cx="103628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0"/>
            <a:ext cx="10362895" cy="274320"/>
          </a:xfrm>
          <a:prstGeom prst="rect">
            <a:avLst/>
          </a:prstGeom>
          <a:noFill/>
        </p:spPr>
        <p:txBody>
          <a:bodyPr wrap="square" tIns="0" bIns="0" lIns="0" rIns="0">
            <a:spAutoFit/>
          </a:bodyPr>
          <a:lstStyle/>
          <a:p>
            <a:pPr>
              <a:defRPr sz="1000">
                <a:solidFill>
                  <a:srgbClr val="64748B"/>
                </a:solidFill>
                <a:latin typeface="Calibri"/>
              </a:defRPr>
            </a:pPr>
            <a:r>
              <a:t>SmartBin – Liquidation Bin Store E-Commerce Management System  |  Slide 9 of 10</a:t>
            </a:r>
          </a:p>
        </p:txBody>
      </p:sp>
      <p:sp>
        <p:nvSpPr>
          <p:cNvPr id="5" name="TextBox 4"/>
          <p:cNvSpPr txBox="1"/>
          <p:nvPr/>
        </p:nvSpPr>
        <p:spPr>
          <a:xfrm>
            <a:off x="914400" y="1463040"/>
            <a:ext cx="10362895" cy="4754880"/>
          </a:xfrm>
          <a:prstGeom prst="rect">
            <a:avLst/>
          </a:prstGeom>
          <a:noFill/>
        </p:spPr>
        <p:txBody>
          <a:bodyPr wrap="square">
            <a:spAutoFit/>
          </a:bodyPr>
          <a:lstStyle/>
          <a:p>
            <a:pPr>
              <a:spcAft>
                <a:spcPts val="1200"/>
              </a:spcAft>
              <a:defRPr sz="1400" b="1">
                <a:solidFill>
                  <a:srgbClr val="1E3A8A"/>
                </a:solidFill>
                <a:latin typeface="Calibri"/>
              </a:defRPr>
            </a:pPr>
            <a:r>
              <a:t>•  Frontend Layer: </a:t>
            </a:r>
            <a:r>
              <a:rPr sz="1300" b="0">
                <a:solidFill>
                  <a:srgbClr val="334155"/>
                </a:solidFill>
                <a:latin typeface="Calibri"/>
              </a:rPr>
              <a:t>HTML5 for semantic layouts, CSS3 for custom responsive styling, Bootstrap 5 for grid systems and modal interfaces, Vanilla JavaScript (ES6+) for dynamic DOM rendering and Fetch API, and FontAwesome 6 icons.</a:t>
            </a:r>
          </a:p>
          <a:p>
            <a:pPr>
              <a:spcAft>
                <a:spcPts val="1200"/>
              </a:spcAft>
              <a:defRPr sz="1400" b="1">
                <a:solidFill>
                  <a:srgbClr val="1E3A8A"/>
                </a:solidFill>
                <a:latin typeface="Calibri"/>
              </a:defRPr>
            </a:pPr>
            <a:r>
              <a:t>•  Backend &amp; API Layer: </a:t>
            </a:r>
            <a:r>
              <a:rPr sz="1300" b="0">
                <a:solidFill>
                  <a:srgbClr val="334155"/>
                </a:solidFill>
                <a:latin typeface="Calibri"/>
              </a:rPr>
              <a:t>Node.js as the non-blocking asynchronous event loop runtime; Express.js as the RESTful API framework; Express Router for modular daily-price and product routes; Multer for product photo uploads; CORS and Body-Parser.</a:t>
            </a:r>
          </a:p>
          <a:p>
            <a:pPr>
              <a:spcAft>
                <a:spcPts val="1200"/>
              </a:spcAft>
              <a:defRPr sz="1400" b="1">
                <a:solidFill>
                  <a:srgbClr val="1E3A8A"/>
                </a:solidFill>
                <a:latin typeface="Calibri"/>
              </a:defRPr>
            </a:pPr>
            <a:r>
              <a:t>•  Database &amp; Security: </a:t>
            </a:r>
            <a:r>
              <a:rPr sz="1300" b="0">
                <a:solidFill>
                  <a:srgbClr val="334155"/>
                </a:solidFill>
                <a:latin typeface="Calibri"/>
              </a:rPr>
              <a:t>MySQL 8.0 ACID-compliant relational database engine; mysql2/promise driver supporting connection pooling; JSON Web Tokens (JWT) for stateless authentication; bcrypt.js for 10-round password hashing; Dotenv for environment protection.</a:t>
            </a:r>
          </a:p>
          <a:p>
            <a:pPr>
              <a:spcAft>
                <a:spcPts val="1200"/>
              </a:spcAft>
              <a:defRPr sz="1400" b="1">
                <a:solidFill>
                  <a:srgbClr val="1E3A8A"/>
                </a:solidFill>
                <a:latin typeface="Calibri"/>
              </a:defRPr>
            </a:pPr>
            <a:r>
              <a:t>•  Payment Gateway &amp; Tools: </a:t>
            </a:r>
            <a:r>
              <a:rPr sz="1300" b="0">
                <a:solidFill>
                  <a:srgbClr val="334155"/>
                </a:solidFill>
                <a:latin typeface="Calibri"/>
              </a:rPr>
              <a:t>Razorpay Payment Gateway API for secure online card/UPI checkout; Postman for REST endpoint testing; Visual Studio Code as the primary IDE; Git and GitHub for version control; and Nodemon for hot-reloading development.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731520"/>
          </a:xfrm>
          <a:prstGeom prst="rect">
            <a:avLst/>
          </a:prstGeom>
          <a:noFill/>
        </p:spPr>
        <p:txBody>
          <a:bodyPr wrap="square" tIns="0" bIns="0" lIns="0" rIns="0">
            <a:spAutoFit/>
          </a:bodyPr>
          <a:lstStyle/>
          <a:p>
            <a:pPr>
              <a:defRPr sz="2600" b="1">
                <a:solidFill>
                  <a:srgbClr val="0F172A"/>
                </a:solidFill>
                <a:latin typeface="Calibri"/>
              </a:defRPr>
            </a:pPr>
            <a:r>
              <a:t>Future Enhancements &amp; Project Conclusion</a:t>
            </a:r>
          </a:p>
        </p:txBody>
      </p:sp>
      <p:sp>
        <p:nvSpPr>
          <p:cNvPr id="3" name="Rectangle 2"/>
          <p:cNvSpPr/>
          <p:nvPr/>
        </p:nvSpPr>
        <p:spPr>
          <a:xfrm>
            <a:off x="914400" y="1234440"/>
            <a:ext cx="103628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0"/>
            <a:ext cx="10362895" cy="274320"/>
          </a:xfrm>
          <a:prstGeom prst="rect">
            <a:avLst/>
          </a:prstGeom>
          <a:noFill/>
        </p:spPr>
        <p:txBody>
          <a:bodyPr wrap="square" tIns="0" bIns="0" lIns="0" rIns="0">
            <a:spAutoFit/>
          </a:bodyPr>
          <a:lstStyle/>
          <a:p>
            <a:pPr>
              <a:defRPr sz="1000">
                <a:solidFill>
                  <a:srgbClr val="64748B"/>
                </a:solidFill>
                <a:latin typeface="Calibri"/>
              </a:defRPr>
            </a:pPr>
            <a:r>
              <a:t>SmartBin – Liquidation Bin Store E-Commerce Management System  |  Slide 10 of 10</a:t>
            </a:r>
          </a:p>
        </p:txBody>
      </p:sp>
      <p:sp>
        <p:nvSpPr>
          <p:cNvPr id="5" name="TextBox 4"/>
          <p:cNvSpPr txBox="1"/>
          <p:nvPr/>
        </p:nvSpPr>
        <p:spPr>
          <a:xfrm>
            <a:off x="914400" y="1463040"/>
            <a:ext cx="10362895" cy="4754880"/>
          </a:xfrm>
          <a:prstGeom prst="rect">
            <a:avLst/>
          </a:prstGeom>
          <a:noFill/>
        </p:spPr>
        <p:txBody>
          <a:bodyPr wrap="square">
            <a:spAutoFit/>
          </a:bodyPr>
          <a:lstStyle/>
          <a:p>
            <a:pPr>
              <a:spcAft>
                <a:spcPts val="400"/>
              </a:spcAft>
              <a:defRPr sz="1550" b="1">
                <a:solidFill>
                  <a:srgbClr val="1E3A8A"/>
                </a:solidFill>
                <a:latin typeface="Calibri"/>
              </a:defRPr>
            </a:pPr>
            <a:r>
              <a:t>Future Enhancements &amp; Scalability Roadmap:</a:t>
            </a:r>
          </a:p>
          <a:p>
            <a:pPr>
              <a:spcAft>
                <a:spcPts val="300"/>
              </a:spcAft>
              <a:defRPr sz="1250">
                <a:solidFill>
                  <a:srgbClr val="334155"/>
                </a:solidFill>
                <a:latin typeface="Calibri"/>
              </a:defRPr>
            </a:pPr>
            <a:r>
              <a:t>   •  Automated Midnight Cron Jobs: Configure node-cron to execute /api/daily-prices/apply-today at precisely 12:00 AM daily without requiring manager triggers.</a:t>
            </a:r>
          </a:p>
          <a:p>
            <a:pPr>
              <a:spcAft>
                <a:spcPts val="300"/>
              </a:spcAft>
              <a:defRPr sz="1250">
                <a:solidFill>
                  <a:srgbClr val="334155"/>
                </a:solidFill>
                <a:latin typeface="Calibri"/>
              </a:defRPr>
            </a:pPr>
            <a:r>
              <a:t>   •  AI Dynamic Pricing Optimization: Deploy machine learning models to analyze remaining stock velocity and automatically recommend optimal daily price drop rates.</a:t>
            </a:r>
          </a:p>
          <a:p>
            <a:pPr>
              <a:spcAft>
                <a:spcPts val="300"/>
              </a:spcAft>
              <a:defRPr sz="1250">
                <a:solidFill>
                  <a:srgbClr val="334155"/>
                </a:solidFill>
                <a:latin typeface="Calibri"/>
              </a:defRPr>
            </a:pPr>
            <a:r>
              <a:t>   •  Cross-Platform Mobile App: Build Flutter / React Native apps with automated push notifications notifying users at midnight of new daily price drops.</a:t>
            </a:r>
          </a:p>
          <a:p>
            <a:pPr>
              <a:spcAft>
                <a:spcPts val="300"/>
              </a:spcAft>
              <a:defRPr sz="1250">
                <a:solidFill>
                  <a:srgbClr val="334155"/>
                </a:solidFill>
                <a:latin typeface="Calibri"/>
              </a:defRPr>
            </a:pPr>
            <a:r>
              <a:t>   •  In-Store Omnichannel QR Code Scanners: Place QR tags on physical bins so in-store walk-in customers can scan items to check upcoming price drop schedules.</a:t>
            </a:r>
          </a:p>
          <a:p>
            <a:br/>
            <a:pPr>
              <a:spcAft>
                <a:spcPts val="400"/>
              </a:spcAft>
              <a:defRPr sz="1550" b="1">
                <a:solidFill>
                  <a:srgbClr val="1E3A8A"/>
                </a:solidFill>
                <a:latin typeface="Calibri"/>
              </a:defRPr>
            </a:pPr>
            <a:r>
              <a:t>Project Conclusion &amp; Takeaways:</a:t>
            </a:r>
          </a:p>
          <a:p>
            <a:pPr>
              <a:spcAft>
                <a:spcPts val="300"/>
              </a:spcAft>
              <a:defRPr sz="1250">
                <a:solidFill>
                  <a:srgbClr val="334155"/>
                </a:solidFill>
                <a:latin typeface="Calibri"/>
              </a:defRPr>
            </a:pPr>
            <a:r>
              <a:t>   ✔  Successfully digitized reverse logistics liquidation retail with an automated dynamic daily pricing engine.</a:t>
            </a:r>
          </a:p>
          <a:p>
            <a:pPr>
              <a:spcAft>
                <a:spcPts val="300"/>
              </a:spcAft>
              <a:defRPr sz="1250">
                <a:solidFill>
                  <a:srgbClr val="334155"/>
                </a:solidFill>
                <a:latin typeface="Calibri"/>
              </a:defRPr>
            </a:pPr>
            <a:r>
              <a:t>   ✔  Demonstrated full-stack engineering with a responsive frontend, RESTful Node.js backend, and a 13-table 3NF MySQL database.</a:t>
            </a:r>
          </a:p>
          <a:p>
            <a:pPr>
              <a:spcAft>
                <a:spcPts val="300"/>
              </a:spcAft>
              <a:defRPr sz="1250">
                <a:solidFill>
                  <a:srgbClr val="334155"/>
                </a:solidFill>
                <a:latin typeface="Calibri"/>
              </a:defRPr>
            </a:pPr>
            <a:r>
              <a:t>   ✔  Delivered real business impact: descending daily price drops, physical bin mapping, online payments, and gamification.</a:t>
            </a:r>
          </a:p>
          <a:p>
            <a:br/>
            <a:pPr>
              <a:defRPr sz="1400" b="1">
                <a:solidFill>
                  <a:srgbClr val="2563EB"/>
                </a:solidFill>
                <a:latin typeface="Calibri"/>
              </a:defRPr>
            </a:pPr>
            <a:r>
              <a:t>Thank You!  —  Questions &amp; Answers Session Open for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